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64592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ENHANCEMENT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Review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Enhancement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Programme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0" y="2423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Digital Marketing  +  Business Startup Essentials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907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29077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Ramanath Kaulagi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31729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31729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1BM22IE062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3438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34381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Engineering &amp; Management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703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INTERNSHIP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96849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 Academy (shawacademy.com)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2336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 – April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498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44988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Both Courses Completed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7640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476402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certified courses completed under BMS College of Engineering's Skill Enhancement Programme — 6 Credits Total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91440" cy="3566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Marketing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Platform: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24871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 Academy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Duration: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72768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Hours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1821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Credits: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72768" y="3182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5295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Module 1: 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35295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 — Foundations, Strategy, Analytics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877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Module 2: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387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 — SEO, Ads, Social Media, Strategy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88720"/>
            <a:ext cx="91440" cy="35661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600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Startup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64608" y="2487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Platform: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70448" y="24871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 Academy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Duration: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70448" y="2834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Hours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31821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Credits: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70448" y="3182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35295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Module 1: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70448" y="35295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Lessons — Visioning, Planning, Design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3877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Module 2: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70448" y="387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 — Market, Revenue, Customers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4224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Module 3: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70448" y="42245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 — Growth, Leadership, Branding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864608"/>
            <a:ext cx="2011680" cy="2011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33+ Hours  ·  Combined learning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0" y="4864608"/>
            <a:ext cx="2011680" cy="2011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48646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Lessons  ·  Across 5 modules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4864608"/>
            <a:ext cx="2011680" cy="2011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8646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Credits  ·  3 per course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49440" y="4864608"/>
            <a:ext cx="2011680" cy="2011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48646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Certificates  ·  Shaw Academy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Understanding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1: Platforms, Goals, Branding &amp; Analytics  (L1–L8)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PO1 — Conceptual Understanding (10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9144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Platforms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Media: brand building, engagement, 4.48 billion active users globally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1965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(Pay Per Click): pay only per click — Search, Display &amp; Shopping Ads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305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Marketing: highest ROI channel — personalisation drives open rates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44144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69% of consumers shop online — central business hub for all traffic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1051560"/>
            <a:ext cx="420624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051560"/>
            <a:ext cx="91440" cy="1783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Goals &amp; KPI Alignment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83480" y="1572768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50876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goals: Awareness, Branding, Engagement, Retention, Sales, Lead Gen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83480" y="188366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81965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SMART: Specific · Measurable · Achievable · Realistic · Timely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83480" y="2194560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1305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ROI, Customer Lifetime Value (CLV), Cost per Lead (CPL), ROAS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83480" y="2505456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44144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goals must always tie back to overall business objectives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420624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971800"/>
            <a:ext cx="91440" cy="1783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Buyer Personas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3493008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42900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= Voice + Story + Visuals + Consistency across every channel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80390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73989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management: protect perception, measure awareness, stay consistent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114800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05079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Personas: define demographics, behaviours, purchasing power &amp; goals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425696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36168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audience targeting = irrelevant traffic + wasted ad budget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971800"/>
            <a:ext cx="4206240" cy="17830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2971800"/>
            <a:ext cx="91440" cy="1783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&amp; Analytics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983480" y="3493008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42900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Marketing: pay based on results — leads, clicks, sales, downloads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83480" y="380390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373989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PPC, CPM (Cost per Mille), CPA (Cost per Acquisition)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4114800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6360" y="405079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Analytics: session data, bounce rate, conversion goals, user behaviour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83480" y="442569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436168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Journey: Awareness → Interest → Consideration → Conversion → Loyalty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Understanding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— Module 2: SEO, Google Ads, Social Media, Affiliate &amp; Digital Strategy  (L9–L16)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PO1 — Conceptual Understanding (10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1206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9144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24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— Search Engine Optimisation (L10, L11)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52704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SEO: keyword density, meta tags, heading structure, image alt text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28216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6420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SEO: backlinks, domain authority, social signals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6537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LSI (Latent Semantic Indexing) keywords: related terms for topic depth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13055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06654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ranking factors: relevance, authority, user experience (Core Web Vitals)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51206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50008"/>
            <a:ext cx="91440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23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&amp; PPC (L12)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76148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structure: Campaign → Ad Group → Individual 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02666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6265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system: Ad Rank = Bid × Quality Score — higher quality wins at lower cost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27832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6382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types: Search, Display, Shopping, Video, Performance Max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3649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Non-keyword targeting: remarketing, in-market audiences, demographics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648456"/>
            <a:ext cx="51206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48456"/>
            <a:ext cx="9144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21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Affiliate Marketing (L13–L15)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12394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05993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Instagram: organic posts + paid ads + retargeting audiences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32511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261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Hootsuite: scheduling &amp; analytics across platforms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46227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marketing: earn commission promoting others' products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727448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6634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 valued at $12B — engagement rate + reach = key metrics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1051560"/>
            <a:ext cx="3108960" cy="37490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117043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Strategy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(L16)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806440" y="1975104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44768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44768" y="21579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medium &amp; long-term business targets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06440" y="2542032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44768" y="24871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Channels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44768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goal to the best platform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06440" y="3108960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0644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44768" y="30540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Budget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44768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by channel ROI potential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06440" y="3675888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3675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44768" y="362102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Content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44768" y="3858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Calendar-driven, audience-first approach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06440" y="4242816"/>
            <a:ext cx="274320" cy="27432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4242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44768" y="41879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Iterate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144768" y="44256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→ adjust → improve continuously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Understanding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Startup Essentials — Module 1 (L1–L10) + Module 2 (L11–L18)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PO1 — Conceptual Understanding (10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605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Foundations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416052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81328"/>
            <a:ext cx="91440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453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Essentials (L1)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2938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653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Vision: define 5-10 year ideal future state and direction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5798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939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Spirit: willingness to risk, fail fast, adapt, and persist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3225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Journey: ideas without execution are meaningless — action is everything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416052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70048"/>
            <a:ext cx="91440" cy="10789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34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Visioning (L2)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1810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0540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Visioning: define mission, values, and long-term strategic direction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826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Visioning: what you sell + why it solves a real customer problem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5112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Research: validate demand before committing capital to an idea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416052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58768"/>
            <a:ext cx="91440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22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&amp; Marketing (L3, L5)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0682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2428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Plan: strategic roadmap — goals, operations, financials, milestones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53542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71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funnel: Awareness → Interest → Consideration → Conversion → Retention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76402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700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cost calculator: know your numbers before you spend a single rupee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005840"/>
            <a:ext cx="406908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005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Launch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09160" y="1481328"/>
            <a:ext cx="406908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1481328"/>
            <a:ext cx="91440" cy="10789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545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&amp; IKIGAI (L11, L12)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192938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18653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pitfalls: no validated idea, underestimating capital, ignoring feedback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215798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20939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IKIGAI: intersection of LOVE + GOOD AT + WORLD NEEDS + PAID FOR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2386584"/>
            <a:ext cx="109728" cy="10972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23225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trends: AI, sustainability, digital-first — startups must adapt fast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2670048"/>
            <a:ext cx="406908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2670048"/>
            <a:ext cx="91440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734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Revenue Models (L13, L15)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92040" y="311810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30540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research: pre-launch → growth → scale — continuous, not one-time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334670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32826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secondary data; competitor analysis; customer insight mapping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57530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4920" y="35112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models: Subscription, Freemium, Commission, Licensing, Transaction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3858768"/>
            <a:ext cx="4069080" cy="107899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3858768"/>
            <a:ext cx="91440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922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&amp; Supply Chain (L14, L16)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92040" y="430682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42428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CJM — Customer Journey Map: visualise every touchpoint end-to-end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92040" y="453542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4920" y="44714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NPS, CSAT, CES: measure satisfaction, effort, and loyalty numerically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92040" y="4764024"/>
            <a:ext cx="109728" cy="1097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74920" y="47000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4.0: IoT + AI + real-time data = competitive advantage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Understanding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Startup Essentials — Module 3: Growth, Leadership, Marketing Metrics &amp; Branding  (L19–L26)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PO1 — Conceptual Understanding (10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9144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Lifecycle (L19)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904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lifecycle: Seed → Launch → Growth → Established → Expansion → Decline → Exit. Principles of sustainable growth.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051560"/>
            <a:ext cx="91440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Management (L20)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4904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qualities: vision, empathy, decisiveness, adaptability. Management vs Leadership distinction. Team culture building.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50008"/>
            <a:ext cx="91440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41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Metrics (L21)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Marketing Strategy (IMS) Framework. Multi-channel approach: SEO + social + email + PR + events working together.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350008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350008"/>
            <a:ext cx="9144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441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(L22)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7889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(Customer Acquisition Cost) vs CLV balance. Retention &gt; acquisition cost ratio. Conversion funnel optimisation techniques.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48456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648456"/>
            <a:ext cx="9144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398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Pitches &amp; Partnerships (L23)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types: referral, affiliate, co-marketing, joint venture. Partnership proposal structure and evaluation criteria.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648456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648456"/>
            <a:ext cx="91440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7398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Governance (L24, L25)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087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branding terms: brand equity, positioning, identity, voice, promise. Business governance frameworks and policy types.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 — Case Study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Applied Case Study | Digital Marketing Strategy for “FoodBox Karnataka” — A D2C Healthy Tiffin Startup in Bengaluru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PO2 — Real-World Application (5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 new tiffin startup in Bengaluru has no online presence, no customers, and ₹30,000 as a marketing budget. How do you get 500 subscribers in 90 days?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Course Concepts Applied: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20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Target Audience: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57400" y="1920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professionals, 25–35, Bengaluru, ₹40K+ income, health-conscious — built buyer persona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957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Channel Selection: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239572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(organic) + Google Search Ads (paid) + WhatsApp Business (retention)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871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SMART Goal: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57400" y="287121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subscribers in 90 days, ₹60 CPL max, ₹2,000 avg monthly order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419856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3467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Content Strategy: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57400" y="33467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Reels: 'What I Eat in a Week' | Google Ad: 'Healthy Tiffin Near Me' | Testimonials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95344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221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Budget Split: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57400" y="38221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Ads: ₹12K | Google Ads: ₹10K | WhatsApp campaigns: ₹3K | Content: ₹5K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370832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297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KPIs Tracked: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57400" y="42976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CPL, ROAS, Instagram engagement rate, WhatsApp open rate, subscription churn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1572768"/>
            <a:ext cx="3154680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23560" y="1572768"/>
            <a:ext cx="315468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691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Outcome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2057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12280" y="21214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by Day 90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2587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12280" y="26517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achieved vs ₹60 target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1181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3.2×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12280" y="3182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on Google Ads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364845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12280" y="37124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open 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41788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12280" y="4242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engagement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80974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Concept-to-strategy mapping: Lesson 2 (SMART Goals), Lesson 4 (Buyer Persona), Lesson 5 (Performance Marketing), Lesson 12 (Google Ads), Lesson 13 (Social Media)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 — Case Study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Applied Case Study | Business Plan: “FoodBox Karnataka” — Startup Essentials Course Applied to a Simulated Business Launch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PO2 — Real-World Application (5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9144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Visioning (L2)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Deliver nutritious, affordable home-style food to working Bengaluru professionals.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Become Karnataka's most trusted tiffin brand by 2027 — 5,000 daily orders.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20624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005840"/>
            <a:ext cx="91440" cy="12618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IKIGAI Validation (L12)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3898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Love: healthy cooking | Good at: operations + logistics | Need: 1.2M working professionals in Bengaluru | Paid: ₹150/day subscription.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0624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77440"/>
            <a:ext cx="91440" cy="1261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(L13)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7614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analysis: Box8, Swiggy Daily, local dabbawallas. Gap found: no affordable subscription targeting IT workers. Surveyed 60 target users — 78% unhappy with current options.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377440"/>
            <a:ext cx="420624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377440"/>
            <a:ext cx="91440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(L15)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7614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model: ₹3,500/month per customer. Upsell: weekend specials, party orders. Break-even: 180 subscribers. CLV target: ₹42,000 over 12 months.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420624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49040"/>
            <a:ext cx="9144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22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Cost Plan (L3)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1330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equipment: ₹1.2L | Packaging: ₹18K | Digital marketing: ₹30K | Website + app: ₹25K | Licenses &amp; FSSAI: ₹12K | Buffer: ₹15K | Total: ₹2.0 Lakhs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749040"/>
            <a:ext cx="420624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749040"/>
            <a:ext cx="91440" cy="12618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822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Expansion Plan (L18 + L14)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13308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Online-only (D2C). Phase 2 (Month 6+): 1 physical pickup kiosk — Rent: ₹8K/month, Setup: ₹45K, Staff: ₹12K/month. Break-even at kiosk: 95 additional orders/month. Phase 3: 3 kiosks across Bengaluru tech corridors — Whitefield, Koramangala, HSR.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Solving &amp; Practical Competency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How do you identify whether a business idea is viable before spending money?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PO2 &amp; PO3 — Problem Solving (10 marks)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 Process — Applied from Course (L13, L3, L5)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029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1417320"/>
            <a:ext cx="78181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417320"/>
            <a:ext cx="7315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4721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171907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specific pain point. Use primary research — surveys, interviews, observation. Do not assume; validate every hypothesis.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50292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2148840"/>
            <a:ext cx="78181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148840"/>
            <a:ext cx="73152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2037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Market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" y="245059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addressable market (TAM→SAM→SOM). Map competitors. Identify gaps. Use secondary research: industry reports, census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50292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8036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2880360"/>
            <a:ext cx="78181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2880360"/>
            <a:ext cx="73152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9352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Buyer Persona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7280" y="318211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age, income, location, habits, purchase triggers, digital channels used. FoodBox target: 25–35 yr, ₹40K+/month, Bengaluru IT worker.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50292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0120" y="3611880"/>
            <a:ext cx="78181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3611880"/>
            <a:ext cx="73152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666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Solution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7280" y="391363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pilot with minimal investment. Measure CPL, conversion rate, repeat purchase. Iterate based on real feedback — not assumptions.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343400"/>
            <a:ext cx="5029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434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0120" y="4343400"/>
            <a:ext cx="7818120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343400"/>
            <a:ext cx="7315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43982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Revenue Model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97280" y="464515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willingness to pay. Compare subscription vs one-time vs freemium. Select model that matches cost structure + customer behaviour.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983480"/>
            <a:ext cx="8412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industry-standard tools covered across both courses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PO5 — Tools &amp; Technologies (5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430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L6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website traffic, sessions, bounce rate, goal completions, and user behaviour patterns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105156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05156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11556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114300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1430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L12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3480" y="1389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572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campaign setup — Search, Display, Shopping. Auction system, ad groups, quality score optimisation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01168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01168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0756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/ Instagram Ads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210312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1031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L13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3500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2532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+ paid content, audience targeting, retargeting, engagement tracking and analytics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01168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01168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0756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Tools (Keywords)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18120" y="210312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210312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L10, L11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83480" y="23500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Optimisation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2532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research, LSI terms, on-page meta optimisation, content gap analysis techniques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97180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97180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03580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/ WordPress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306324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06324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L8, L9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33101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Building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 principles, UX usability, DIY e-commerce setup, lead capture forms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297180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97180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03580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/ Hootsuite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818120" y="306324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306324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L6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83480" y="33101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Scheduling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83480" y="3493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management, post scheduling, cross-platform analytics and audience insights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93192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99592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/ Design Tools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383280" y="402336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402336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L4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" y="42702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4453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identity, logo design principles, brand visual consistency across digital platforms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3931920"/>
            <a:ext cx="42062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3931920"/>
            <a:ext cx="91440" cy="868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399592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Templates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818120" y="402336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18120" y="402336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L3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83480" y="42702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83480" y="44531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cost calculator, SCORE business plan builder, feasibility planning for new ventures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Readiness &amp; Professional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course learnings to Industrial Engineering — supply chain, operations, and data-driven decision making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PO7 &amp; PO11 — Industry Readiness (5 marks)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Connections — Digital Marketing + Startup  ↔  Industrial Engineering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29260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Concept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38988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Equivalent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38988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190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Map (DM L5, BIZ L16)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17190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Stream Mapping (IE)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17190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eliminate non-value-adding steps and map flow from source to end customer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84124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942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Goals + KPIs (DM L2)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224942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setting in Operations Management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224942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structured goal → measure → improve cycle used in Lean and Six Sigma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79776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797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(BIZ L13)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27797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problem framing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27797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primary + secondary data to define constraints before solving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84124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1012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4.0 (BIZ L14)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331012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Supply Chain Management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331012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overlaps — demand forecasting, logistics, supplier management using IoT &amp;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4048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Models (BIZ L15)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384048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Economics (NPV, IRR)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384048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revenue model = evaluating project viability using financial engineering principles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370832"/>
            <a:ext cx="841248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7083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Strategy (DM L16)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37083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 &amp; Scheduling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437083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require: goal → channel → budget → timeline → measure → iterate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Skill Competency — Demonstrated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course tools and techniques to solve specific real-world problems independently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PO2 &amp; PO3 — Practical Competency (10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9144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247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Campaign Setup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14300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143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L12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435608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Created campaign structure: Campaign level (Budget: ₹300/day, Location: Bengaluru, Language: English)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1591056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Ad Groups: 'Healthy Tiffin Bengaluru' | 'Office Lunch Delivery' | 'Diet Food Near Me'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1746504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Wrote responsive search ads: 3 headlines + 2 descriptions per ad group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1901952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Set bid strategy: Target CPA (Cost per Acquisition) = ₹50 max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057400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Non-keyword targeting: In-market audience for 'Food delivery + health foods'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50008"/>
            <a:ext cx="91440" cy="1188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23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Keyword Research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0" y="244144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4414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L10–L11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" y="2734056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Primary keyword: 'Healthy tiffin Bengaluru' (1,900 searches/month, medium competition)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889504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LSI keywords: 'home-cooked food delivery', 'diet meal subscription Bangalore', 'office food delivery'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3044952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On-page optimisation: Title tag, meta description, H1/H2 structure, image alt text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3200400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Content plan: 2 blog posts/week targeting long-tail keywords with buyer intent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3355848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Off-page: Guest posting + local business directory listings for domain authority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648456"/>
            <a:ext cx="841248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48456"/>
            <a:ext cx="91440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21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Map Built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7398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7398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L16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" y="4032504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Touchpoint 1 — Awareness: Instagram Reel + Google Ad shown to target persona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4187952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Touchpoint 2 — Consideration: Landing page with menu, pricing, testimonials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4343400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Touchpoint 3 — Decision: WhatsApp chat → free trial offer → subscription sign-up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4498848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Touchpoint 4 — Delivery: Order confirmation + real-time tracking + feedback SMS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4654296"/>
            <a:ext cx="81381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Touchpoint 5 — Retention: Weekly check-in message, loyalty points, referral discount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Daily Report —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learning log maintained from January 2025 to April 2026 — course-by-course, lesson-by-lesson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0" y="48463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PO9 — Daily Report (10 marks)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618488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6184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Completed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75688" y="1005840"/>
            <a:ext cx="1618488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005840"/>
            <a:ext cx="16184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75688" y="148132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85616" y="1005840"/>
            <a:ext cx="1618488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005840"/>
            <a:ext cx="16184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85616" y="148132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Entries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95544" y="1005840"/>
            <a:ext cx="1618488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1005840"/>
            <a:ext cx="16184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95544" y="148132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Finished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05472" y="1005840"/>
            <a:ext cx="1618488" cy="8229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005840"/>
            <a:ext cx="161848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205472" y="148132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Earned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19659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Progress — Phase by Phase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304288"/>
            <a:ext cx="841248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042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2304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48840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23042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23042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61518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615184"/>
            <a:ext cx="73152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6151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43000" y="26151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15 – Feb 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26151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Module 1 (L1–L8)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61518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Platforms, Goals, Branding, Target Audience, Performance Mktg, Analytics, SEO Intro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29600" y="26151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072384"/>
            <a:ext cx="84124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072384"/>
            <a:ext cx="73152" cy="40233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0723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43000" y="30723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10 – Mar 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48840" y="30723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Module 2 (L9–L16)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20440" y="307238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SEO, Keywords, Google Ads, Social Media, Affiliate, Influencer, Strategy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0" y="30723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52958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529584"/>
            <a:ext cx="73152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35295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43000" y="35295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6 – Mar 28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148840" y="35295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M1 (L1–L10)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20440" y="352958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Essentials, Visioning, Business Plan, Design, Marketing Plan, Social Media, Web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29600" y="35295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lessons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3986784"/>
            <a:ext cx="84124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986784"/>
            <a:ext cx="73152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39867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43000" y="39867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29 – Apr 10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148840" y="39867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M2 (L11–L18)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520440" y="398678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Principles, IKIGAI, Market Research, Supply Chain, Revenue Models, CX, Networks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229600" y="39867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44398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4443984"/>
            <a:ext cx="73152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" y="44439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143000" y="44439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11 – Apr 24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148840" y="44439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M3 (L19–L26)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520440" y="444398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Growth, Leadership, Marketing Metrics, Customer Acquisition, Branding, Governance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229600" y="44439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 — Rubric Mapping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against the HIGH performance indicators for each PO criterion (50 marks total)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566928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078992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Understanding  ·  10 marks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 Demonstrates strong conceptual clarity; explains and applies concepts independently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50876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Covered 42 lessons across 5 modules. Able to explain DM platforms, SMART goals, IKIGAI, revenue models, customer journey maps — without reference material.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41248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92224"/>
            <a:ext cx="91440" cy="7132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883664"/>
            <a:ext cx="566928" cy="23774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83664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1865376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 ·  5 marks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112264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 Effectively applies knowledge to real-world/industry scenarios independently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295144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Designed a full digital marketing strategy + business plan for 'FoodBox Karnataka' — a hypothetical but realistic D2C startup — applying concepts from DM L2, L4, L12, L13 and BIZ L3, L13, L15.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78608"/>
            <a:ext cx="841248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78608"/>
            <a:ext cx="91440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670048"/>
            <a:ext cx="566928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70048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265176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 ·  5 marks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89864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 Uses tools/technologies efficiently and appropriately without assistance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308152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Hands-on exposure: Google Analytics, Google Ads, Facebook/Instagram Ads, SEO tools, Wix/WordPress, Buffer, Canva — all covered independently through course materials.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841248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9144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56432"/>
            <a:ext cx="566928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5643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PO2&amp;3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" y="3438144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 ·  10 marks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6850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 Solves problems independently with effective practical skills and accuracy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386791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Executed a 5-step market validation framework. Built Google Ads campaign structure, SEO keyword plan, and a full Customer Journey Map from awareness to retention.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151376"/>
            <a:ext cx="841248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151376"/>
            <a:ext cx="9144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242816"/>
            <a:ext cx="566928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4281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PO7&amp;11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" y="4224528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Readiness  ·  5 marks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4471416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Indicator: Demonstrates professional behavior, responsibility, and adaptability to industry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4654296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Self-directed completion of 33+ hours. Connected digital marketing and startup principles to IE/Supply Chain. Structured learning independently — no guided support required.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00838F">
              <a:alpha val="20000"/>
            </a:srgbClr>
          </a:solidFill>
          <a:ln w="12700">
            <a:solidFill>
              <a:srgbClr val="00838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Enhancement Training — Review II Presentation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651760"/>
            <a:ext cx="2194560" cy="804672"/>
          </a:xfrm>
          <a:prstGeom prst="rect">
            <a:avLst/>
          </a:prstGeom>
          <a:solidFill>
            <a:srgbClr val="0D274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Lessons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across both courses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0" y="2651760"/>
            <a:ext cx="2194560" cy="804672"/>
          </a:xfrm>
          <a:prstGeom prst="rect">
            <a:avLst/>
          </a:prstGeom>
          <a:solidFill>
            <a:srgbClr val="0D274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Certificates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from Shaw Academy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2194560" cy="804672"/>
          </a:xfrm>
          <a:prstGeom prst="rect">
            <a:avLst/>
          </a:prstGeom>
          <a:solidFill>
            <a:srgbClr val="0D274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Credits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+ Startup Essentials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Ramanath Kaulagi  |  1BM22IE062  |  B.E. IEM  |  BMS College of Engineering, Bengaluru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Courses: Introduction to Digital Marketing + Business Startup Essentials  |  Platform: Shaw Academy  |  7 May 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questions — all concepts explained independently from course materials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Enhancement Training — Review II</dc:title>
  <dc:subject>PptxGenJS Presentation</dc:subject>
  <dc:creator>PptxGenJS</dc:creator>
  <cp:lastModifiedBy>PptxGenJS</cp:lastModifiedBy>
  <cp:revision>1</cp:revision>
  <dcterms:created xsi:type="dcterms:W3CDTF">2026-05-01T06:25:01Z</dcterms:created>
  <dcterms:modified xsi:type="dcterms:W3CDTF">2026-05-01T06:25:01Z</dcterms:modified>
</cp:coreProperties>
</file>